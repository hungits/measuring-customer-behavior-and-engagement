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layfair Display"/>
      <p:regular r:id="rId19"/>
      <p:bold r:id="rId20"/>
      <p:italic r:id="rId21"/>
      <p:boldItalic r:id="rId22"/>
    </p:embeddedFont>
    <p:embeddedFont>
      <p:font typeface="Montserrat"/>
      <p:regular r:id="rId23"/>
      <p:bold r:id="rId24"/>
      <p:italic r:id="rId25"/>
      <p:boldItalic r:id="rId26"/>
    </p:embeddedFont>
    <p:embeddedFont>
      <p:font typeface="Oswal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bold.fntdata"/><Relationship Id="rId22" Type="http://schemas.openxmlformats.org/officeDocument/2006/relationships/font" Target="fonts/PlayfairDisplay-boldItalic.fntdata"/><Relationship Id="rId21" Type="http://schemas.openxmlformats.org/officeDocument/2006/relationships/font" Target="fonts/PlayfairDisplay-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Oswald-bold.fntdata"/><Relationship Id="rId27"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ayfairDispl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5138a0ab8a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5138a0ab8a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5138a0ab8a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5138a0ab8a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5138a0ab8a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5138a0ab8a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5138a0ab8a_0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138a0ab8a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5138a0ab8a_0_1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5138a0ab8a_0_1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138a0ab8a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138a0ab8a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5138a0ab8a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5138a0ab8a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138a0ab8a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138a0ab8a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138a0ab8a_0_1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5138a0ab8a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5138a0ab8a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5138a0ab8a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5138a0ab8a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5138a0ab8a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5138a0ab8a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5138a0ab8a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highlight>
                  <a:schemeClr val="lt1"/>
                </a:highlight>
              </a:defRPr>
            </a:lvl1pPr>
            <a:lvl2pPr indent="-317500" lvl="1" marL="914400" rtl="0">
              <a:spcBef>
                <a:spcPts val="0"/>
              </a:spcBef>
              <a:spcAft>
                <a:spcPts val="0"/>
              </a:spcAft>
              <a:buSzPts val="1400"/>
              <a:buChar char="○"/>
              <a:defRPr>
                <a:highlight>
                  <a:schemeClr val="lt1"/>
                </a:highlight>
              </a:defRPr>
            </a:lvl2pPr>
            <a:lvl3pPr indent="-317500" lvl="2" marL="1371600" rtl="0">
              <a:spcBef>
                <a:spcPts val="0"/>
              </a:spcBef>
              <a:spcAft>
                <a:spcPts val="0"/>
              </a:spcAft>
              <a:buSzPts val="1400"/>
              <a:buChar char="■"/>
              <a:defRPr>
                <a:highlight>
                  <a:schemeClr val="lt1"/>
                </a:highlight>
              </a:defRPr>
            </a:lvl3pPr>
            <a:lvl4pPr indent="-317500" lvl="3" marL="1828800" rtl="0">
              <a:spcBef>
                <a:spcPts val="0"/>
              </a:spcBef>
              <a:spcAft>
                <a:spcPts val="0"/>
              </a:spcAft>
              <a:buSzPts val="1400"/>
              <a:buChar char="●"/>
              <a:defRPr>
                <a:highlight>
                  <a:schemeClr val="lt1"/>
                </a:highlight>
              </a:defRPr>
            </a:lvl4pPr>
            <a:lvl5pPr indent="-317500" lvl="4" marL="2286000" rtl="0">
              <a:spcBef>
                <a:spcPts val="0"/>
              </a:spcBef>
              <a:spcAft>
                <a:spcPts val="0"/>
              </a:spcAft>
              <a:buSzPts val="1400"/>
              <a:buChar char="○"/>
              <a:defRPr>
                <a:highlight>
                  <a:schemeClr val="lt1"/>
                </a:highlight>
              </a:defRPr>
            </a:lvl5pPr>
            <a:lvl6pPr indent="-317500" lvl="5" marL="2743200" rtl="0">
              <a:spcBef>
                <a:spcPts val="0"/>
              </a:spcBef>
              <a:spcAft>
                <a:spcPts val="0"/>
              </a:spcAft>
              <a:buSzPts val="1400"/>
              <a:buChar char="■"/>
              <a:defRPr>
                <a:highlight>
                  <a:schemeClr val="lt1"/>
                </a:highlight>
              </a:defRPr>
            </a:lvl6pPr>
            <a:lvl7pPr indent="-317500" lvl="6" marL="3200400" rtl="0">
              <a:spcBef>
                <a:spcPts val="0"/>
              </a:spcBef>
              <a:spcAft>
                <a:spcPts val="0"/>
              </a:spcAft>
              <a:buSzPts val="1400"/>
              <a:buChar char="●"/>
              <a:defRPr>
                <a:highlight>
                  <a:schemeClr val="lt1"/>
                </a:highlight>
              </a:defRPr>
            </a:lvl7pPr>
            <a:lvl8pPr indent="-317500" lvl="7" marL="3657600" rtl="0">
              <a:spcBef>
                <a:spcPts val="0"/>
              </a:spcBef>
              <a:spcAft>
                <a:spcPts val="0"/>
              </a:spcAft>
              <a:buSzPts val="1400"/>
              <a:buChar char="○"/>
              <a:defRPr>
                <a:highlight>
                  <a:schemeClr val="lt1"/>
                </a:highlight>
              </a:defRPr>
            </a:lvl8pPr>
            <a:lvl9pPr indent="-317500" lvl="8" marL="4114800" rtl="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4000"/>
              <a:buFont typeface="Montserrat"/>
              <a:buNone/>
              <a:defRPr sz="14000">
                <a:latin typeface="Montserrat"/>
                <a:ea typeface="Montserrat"/>
                <a:cs typeface="Montserrat"/>
                <a:sym typeface="Montserrat"/>
              </a:defRPr>
            </a:lvl1pPr>
            <a:lvl2pPr lvl="1" rtl="0" algn="ctr">
              <a:spcBef>
                <a:spcPts val="0"/>
              </a:spcBef>
              <a:spcAft>
                <a:spcPts val="0"/>
              </a:spcAft>
              <a:buSzPts val="14000"/>
              <a:buFont typeface="Montserrat"/>
              <a:buNone/>
              <a:defRPr sz="14000">
                <a:latin typeface="Montserrat"/>
                <a:ea typeface="Montserrat"/>
                <a:cs typeface="Montserrat"/>
                <a:sym typeface="Montserrat"/>
              </a:defRPr>
            </a:lvl2pPr>
            <a:lvl3pPr lvl="2" rtl="0" algn="ctr">
              <a:spcBef>
                <a:spcPts val="0"/>
              </a:spcBef>
              <a:spcAft>
                <a:spcPts val="0"/>
              </a:spcAft>
              <a:buSzPts val="14000"/>
              <a:buFont typeface="Montserrat"/>
              <a:buNone/>
              <a:defRPr sz="14000">
                <a:latin typeface="Montserrat"/>
                <a:ea typeface="Montserrat"/>
                <a:cs typeface="Montserrat"/>
                <a:sym typeface="Montserrat"/>
              </a:defRPr>
            </a:lvl3pPr>
            <a:lvl4pPr lvl="3" rtl="0" algn="ctr">
              <a:spcBef>
                <a:spcPts val="0"/>
              </a:spcBef>
              <a:spcAft>
                <a:spcPts val="0"/>
              </a:spcAft>
              <a:buSzPts val="14000"/>
              <a:buFont typeface="Montserrat"/>
              <a:buNone/>
              <a:defRPr sz="14000">
                <a:latin typeface="Montserrat"/>
                <a:ea typeface="Montserrat"/>
                <a:cs typeface="Montserrat"/>
                <a:sym typeface="Montserrat"/>
              </a:defRPr>
            </a:lvl4pPr>
            <a:lvl5pPr lvl="4" rtl="0" algn="ctr">
              <a:spcBef>
                <a:spcPts val="0"/>
              </a:spcBef>
              <a:spcAft>
                <a:spcPts val="0"/>
              </a:spcAft>
              <a:buSzPts val="14000"/>
              <a:buFont typeface="Montserrat"/>
              <a:buNone/>
              <a:defRPr sz="14000">
                <a:latin typeface="Montserrat"/>
                <a:ea typeface="Montserrat"/>
                <a:cs typeface="Montserrat"/>
                <a:sym typeface="Montserrat"/>
              </a:defRPr>
            </a:lvl5pPr>
            <a:lvl6pPr lvl="5" rtl="0" algn="ctr">
              <a:spcBef>
                <a:spcPts val="0"/>
              </a:spcBef>
              <a:spcAft>
                <a:spcPts val="0"/>
              </a:spcAft>
              <a:buSzPts val="14000"/>
              <a:buFont typeface="Montserrat"/>
              <a:buNone/>
              <a:defRPr sz="14000">
                <a:latin typeface="Montserrat"/>
                <a:ea typeface="Montserrat"/>
                <a:cs typeface="Montserrat"/>
                <a:sym typeface="Montserrat"/>
              </a:defRPr>
            </a:lvl6pPr>
            <a:lvl7pPr lvl="6" rtl="0" algn="ctr">
              <a:spcBef>
                <a:spcPts val="0"/>
              </a:spcBef>
              <a:spcAft>
                <a:spcPts val="0"/>
              </a:spcAft>
              <a:buSzPts val="14000"/>
              <a:buFont typeface="Montserrat"/>
              <a:buNone/>
              <a:defRPr sz="14000">
                <a:latin typeface="Montserrat"/>
                <a:ea typeface="Montserrat"/>
                <a:cs typeface="Montserrat"/>
                <a:sym typeface="Montserrat"/>
              </a:defRPr>
            </a:lvl7pPr>
            <a:lvl8pPr lvl="7" rtl="0" algn="ctr">
              <a:spcBef>
                <a:spcPts val="0"/>
              </a:spcBef>
              <a:spcAft>
                <a:spcPts val="0"/>
              </a:spcAft>
              <a:buSzPts val="14000"/>
              <a:buFont typeface="Montserrat"/>
              <a:buNone/>
              <a:defRPr sz="14000">
                <a:latin typeface="Montserrat"/>
                <a:ea typeface="Montserrat"/>
                <a:cs typeface="Montserrat"/>
                <a:sym typeface="Montserrat"/>
              </a:defRPr>
            </a:lvl8pPr>
            <a:lvl9pPr lvl="8" rtl="0"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highlight>
                  <a:schemeClr val="dk1"/>
                </a:highlight>
              </a:defRPr>
            </a:lvl1pPr>
            <a:lvl2pPr indent="-317500" lvl="1" marL="914400" rtl="0" algn="ctr">
              <a:spcBef>
                <a:spcPts val="0"/>
              </a:spcBef>
              <a:spcAft>
                <a:spcPts val="0"/>
              </a:spcAft>
              <a:buSzPts val="1400"/>
              <a:buChar char="○"/>
              <a:defRPr>
                <a:highlight>
                  <a:schemeClr val="dk1"/>
                </a:highlight>
              </a:defRPr>
            </a:lvl2pPr>
            <a:lvl3pPr indent="-317500" lvl="2" marL="1371600" rtl="0" algn="ctr">
              <a:spcBef>
                <a:spcPts val="0"/>
              </a:spcBef>
              <a:spcAft>
                <a:spcPts val="0"/>
              </a:spcAft>
              <a:buSzPts val="1400"/>
              <a:buChar char="■"/>
              <a:defRPr>
                <a:highlight>
                  <a:schemeClr val="dk1"/>
                </a:highlight>
              </a:defRPr>
            </a:lvl3pPr>
            <a:lvl4pPr indent="-317500" lvl="3" marL="1828800" rtl="0" algn="ctr">
              <a:spcBef>
                <a:spcPts val="0"/>
              </a:spcBef>
              <a:spcAft>
                <a:spcPts val="0"/>
              </a:spcAft>
              <a:buSzPts val="1400"/>
              <a:buChar char="●"/>
              <a:defRPr>
                <a:highlight>
                  <a:schemeClr val="dk1"/>
                </a:highlight>
              </a:defRPr>
            </a:lvl4pPr>
            <a:lvl5pPr indent="-317500" lvl="4" marL="2286000" rtl="0" algn="ctr">
              <a:spcBef>
                <a:spcPts val="0"/>
              </a:spcBef>
              <a:spcAft>
                <a:spcPts val="0"/>
              </a:spcAft>
              <a:buSzPts val="1400"/>
              <a:buChar char="○"/>
              <a:defRPr>
                <a:highlight>
                  <a:schemeClr val="dk1"/>
                </a:highlight>
              </a:defRPr>
            </a:lvl5pPr>
            <a:lvl6pPr indent="-317500" lvl="5" marL="2743200" rtl="0" algn="ctr">
              <a:spcBef>
                <a:spcPts val="0"/>
              </a:spcBef>
              <a:spcAft>
                <a:spcPts val="0"/>
              </a:spcAft>
              <a:buSzPts val="1400"/>
              <a:buChar char="■"/>
              <a:defRPr>
                <a:highlight>
                  <a:schemeClr val="dk1"/>
                </a:highlight>
              </a:defRPr>
            </a:lvl6pPr>
            <a:lvl7pPr indent="-317500" lvl="6" marL="3200400" rtl="0" algn="ctr">
              <a:spcBef>
                <a:spcPts val="0"/>
              </a:spcBef>
              <a:spcAft>
                <a:spcPts val="0"/>
              </a:spcAft>
              <a:buSzPts val="1400"/>
              <a:buChar char="●"/>
              <a:defRPr>
                <a:highlight>
                  <a:schemeClr val="dk1"/>
                </a:highlight>
              </a:defRPr>
            </a:lvl7pPr>
            <a:lvl8pPr indent="-317500" lvl="7" marL="3657600" rtl="0" algn="ctr">
              <a:spcBef>
                <a:spcPts val="0"/>
              </a:spcBef>
              <a:spcAft>
                <a:spcPts val="0"/>
              </a:spcAft>
              <a:buSzPts val="1400"/>
              <a:buChar char="○"/>
              <a:defRPr>
                <a:highlight>
                  <a:schemeClr val="dk1"/>
                </a:highlight>
              </a:defRPr>
            </a:lvl8pPr>
            <a:lvl9pPr indent="-317500" lvl="8" marL="4114800" rtl="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rtl="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Playfair Display"/>
                <a:ea typeface="Playfair Display"/>
                <a:cs typeface="Playfair Display"/>
                <a:sym typeface="Playfair Display"/>
              </a:defRPr>
            </a:lvl1pPr>
            <a:lvl2pPr lvl="1" rtl="0" algn="r">
              <a:buNone/>
              <a:defRPr sz="1000">
                <a:solidFill>
                  <a:schemeClr val="dk2"/>
                </a:solidFill>
                <a:latin typeface="Playfair Display"/>
                <a:ea typeface="Playfair Display"/>
                <a:cs typeface="Playfair Display"/>
                <a:sym typeface="Playfair Display"/>
              </a:defRPr>
            </a:lvl2pPr>
            <a:lvl3pPr lvl="2" rtl="0" algn="r">
              <a:buNone/>
              <a:defRPr sz="1000">
                <a:solidFill>
                  <a:schemeClr val="dk2"/>
                </a:solidFill>
                <a:latin typeface="Playfair Display"/>
                <a:ea typeface="Playfair Display"/>
                <a:cs typeface="Playfair Display"/>
                <a:sym typeface="Playfair Display"/>
              </a:defRPr>
            </a:lvl3pPr>
            <a:lvl4pPr lvl="3" rtl="0" algn="r">
              <a:buNone/>
              <a:defRPr sz="1000">
                <a:solidFill>
                  <a:schemeClr val="dk2"/>
                </a:solidFill>
                <a:latin typeface="Playfair Display"/>
                <a:ea typeface="Playfair Display"/>
                <a:cs typeface="Playfair Display"/>
                <a:sym typeface="Playfair Display"/>
              </a:defRPr>
            </a:lvl4pPr>
            <a:lvl5pPr lvl="4" rtl="0" algn="r">
              <a:buNone/>
              <a:defRPr sz="1000">
                <a:solidFill>
                  <a:schemeClr val="dk2"/>
                </a:solidFill>
                <a:latin typeface="Playfair Display"/>
                <a:ea typeface="Playfair Display"/>
                <a:cs typeface="Playfair Display"/>
                <a:sym typeface="Playfair Display"/>
              </a:defRPr>
            </a:lvl5pPr>
            <a:lvl6pPr lvl="5" rtl="0" algn="r">
              <a:buNone/>
              <a:defRPr sz="1000">
                <a:solidFill>
                  <a:schemeClr val="dk2"/>
                </a:solidFill>
                <a:latin typeface="Playfair Display"/>
                <a:ea typeface="Playfair Display"/>
                <a:cs typeface="Playfair Display"/>
                <a:sym typeface="Playfair Display"/>
              </a:defRPr>
            </a:lvl6pPr>
            <a:lvl7pPr lvl="6" rtl="0" algn="r">
              <a:buNone/>
              <a:defRPr sz="1000">
                <a:solidFill>
                  <a:schemeClr val="dk2"/>
                </a:solidFill>
                <a:latin typeface="Playfair Display"/>
                <a:ea typeface="Playfair Display"/>
                <a:cs typeface="Playfair Display"/>
                <a:sym typeface="Playfair Display"/>
              </a:defRPr>
            </a:lvl7pPr>
            <a:lvl8pPr lvl="7" rtl="0" algn="r">
              <a:buNone/>
              <a:defRPr sz="1000">
                <a:solidFill>
                  <a:schemeClr val="dk2"/>
                </a:solidFill>
                <a:latin typeface="Playfair Display"/>
                <a:ea typeface="Playfair Display"/>
                <a:cs typeface="Playfair Display"/>
                <a:sym typeface="Playfair Display"/>
              </a:defRPr>
            </a:lvl8pPr>
            <a:lvl9pPr lvl="8" rtl="0"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0" y="167950"/>
            <a:ext cx="4288500" cy="2205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vi" sz="3000">
                <a:solidFill>
                  <a:srgbClr val="3D474D"/>
                </a:solidFill>
                <a:highlight>
                  <a:srgbClr val="FFFFFF"/>
                </a:highlight>
              </a:rPr>
              <a:t>Đo Lường Hành Vi Và Mức Độ Tương Tác Của Khách Hàng</a:t>
            </a:r>
            <a:endParaRPr sz="3000"/>
          </a:p>
        </p:txBody>
      </p:sp>
      <p:sp>
        <p:nvSpPr>
          <p:cNvPr id="59" name="Google Shape;59;p13"/>
          <p:cNvSpPr txBox="1"/>
          <p:nvPr>
            <p:ph idx="1" type="subTitle"/>
          </p:nvPr>
        </p:nvSpPr>
        <p:spPr>
          <a:xfrm>
            <a:off x="158675" y="3018025"/>
            <a:ext cx="4063200" cy="111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400">
                <a:latin typeface="Playfair Display"/>
                <a:ea typeface="Playfair Display"/>
                <a:cs typeface="Playfair Display"/>
                <a:sym typeface="Playfair Display"/>
              </a:rPr>
              <a:t>Nhóm 2</a:t>
            </a:r>
            <a:br>
              <a:rPr lang="vi" sz="1400">
                <a:latin typeface="Playfair Display"/>
                <a:ea typeface="Playfair Display"/>
                <a:cs typeface="Playfair Display"/>
                <a:sym typeface="Playfair Display"/>
              </a:rPr>
            </a:br>
            <a:r>
              <a:rPr lang="vi" sz="1400">
                <a:latin typeface="Playfair Display"/>
                <a:ea typeface="Playfair Display"/>
                <a:cs typeface="Playfair Display"/>
                <a:sym typeface="Playfair Display"/>
              </a:rPr>
              <a:t>Thành viên: </a:t>
            </a:r>
            <a:endParaRPr sz="1400">
              <a:latin typeface="Playfair Display"/>
              <a:ea typeface="Playfair Display"/>
              <a:cs typeface="Playfair Display"/>
              <a:sym typeface="Playfair Display"/>
            </a:endParaRPr>
          </a:p>
          <a:p>
            <a:pPr indent="-317500" lvl="0" marL="457200" rtl="0" algn="l">
              <a:spcBef>
                <a:spcPts val="0"/>
              </a:spcBef>
              <a:spcAft>
                <a:spcPts val="0"/>
              </a:spcAft>
              <a:buSzPts val="1400"/>
              <a:buFont typeface="Playfair Display"/>
              <a:buChar char="●"/>
            </a:pPr>
            <a:r>
              <a:rPr lang="vi" sz="1400">
                <a:latin typeface="Playfair Display"/>
                <a:ea typeface="Playfair Display"/>
                <a:cs typeface="Playfair Display"/>
                <a:sym typeface="Playfair Display"/>
              </a:rPr>
              <a:t>Dương Đình </a:t>
            </a:r>
            <a:endParaRPr sz="1400">
              <a:latin typeface="Playfair Display"/>
              <a:ea typeface="Playfair Display"/>
              <a:cs typeface="Playfair Display"/>
              <a:sym typeface="Playfair Display"/>
            </a:endParaRPr>
          </a:p>
          <a:p>
            <a:pPr indent="-317500" lvl="0" marL="457200" rtl="0" algn="l">
              <a:spcBef>
                <a:spcPts val="0"/>
              </a:spcBef>
              <a:spcAft>
                <a:spcPts val="0"/>
              </a:spcAft>
              <a:buSzPts val="1400"/>
              <a:buFont typeface="Playfair Display"/>
              <a:buChar char="●"/>
            </a:pPr>
            <a:r>
              <a:rPr lang="vi" sz="1400">
                <a:latin typeface="Playfair Display"/>
                <a:ea typeface="Playfair Display"/>
                <a:cs typeface="Playfair Display"/>
                <a:sym typeface="Playfair Display"/>
              </a:rPr>
              <a:t>Nguyễn Trọng Hùng</a:t>
            </a:r>
            <a:br>
              <a:rPr lang="vi" sz="1400">
                <a:latin typeface="Playfair Display"/>
                <a:ea typeface="Playfair Display"/>
                <a:cs typeface="Playfair Display"/>
                <a:sym typeface="Playfair Display"/>
              </a:rPr>
            </a:br>
            <a:r>
              <a:rPr lang="vi" sz="1400">
                <a:latin typeface="Playfair Display"/>
                <a:ea typeface="Playfair Display"/>
                <a:cs typeface="Playfair Display"/>
                <a:sym typeface="Playfair Display"/>
              </a:rPr>
              <a:t>                      </a:t>
            </a:r>
            <a:endParaRPr sz="1400">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44250" y="1403850"/>
            <a:ext cx="8455500" cy="2146800"/>
          </a:xfrm>
          <a:prstGeom prst="rect">
            <a:avLst/>
          </a:prstGeom>
          <a:solidFill>
            <a:schemeClr val="lt1"/>
          </a:solidFill>
        </p:spPr>
        <p:txBody>
          <a:bodyPr anchorCtr="0" anchor="ctr" bIns="91425" lIns="91425" spcFirstLastPara="1" rIns="91425" wrap="square" tIns="91425">
            <a:normAutofit/>
          </a:bodyPr>
          <a:lstStyle/>
          <a:p>
            <a:pPr indent="0" lvl="0" marL="0" rtl="0" algn="ctr">
              <a:spcBef>
                <a:spcPts val="0"/>
              </a:spcBef>
              <a:spcAft>
                <a:spcPts val="0"/>
              </a:spcAft>
              <a:buNone/>
            </a:pPr>
            <a:r>
              <a:rPr lang="vi"/>
              <a:t>Tổng quan về phân tích dữ liệu</a:t>
            </a:r>
            <a:endParaRPr/>
          </a:p>
        </p:txBody>
      </p:sp>
      <p:sp>
        <p:nvSpPr>
          <p:cNvPr id="65" name="Google Shape;65;p14"/>
          <p:cNvSpPr txBox="1"/>
          <p:nvPr>
            <p:ph idx="4294967295" type="body"/>
          </p:nvPr>
        </p:nvSpPr>
        <p:spPr>
          <a:xfrm>
            <a:off x="311700" y="1234075"/>
            <a:ext cx="8520600" cy="3334800"/>
          </a:xfrm>
          <a:prstGeom prst="rect">
            <a:avLst/>
          </a:prstGeom>
          <a:solidFill>
            <a:schemeClr val="dk1"/>
          </a:solidFill>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b="1" lang="vi">
                <a:highlight>
                  <a:schemeClr val="dk1"/>
                </a:highlight>
              </a:rPr>
              <a:t>Làm sơ đồ mindmap đặt câu hỏi vấn đề cần phân tích</a:t>
            </a:r>
            <a:endParaRPr b="1">
              <a:highlight>
                <a:schemeClr val="dk1"/>
              </a:highlight>
            </a:endParaRPr>
          </a:p>
          <a:p>
            <a:pPr indent="-342900" lvl="0" marL="457200" rtl="0" algn="l">
              <a:spcBef>
                <a:spcPts val="0"/>
              </a:spcBef>
              <a:spcAft>
                <a:spcPts val="0"/>
              </a:spcAft>
              <a:buSzPts val="1800"/>
              <a:buAutoNum type="arabicPeriod"/>
            </a:pPr>
            <a:r>
              <a:rPr b="1" lang="vi">
                <a:highlight>
                  <a:schemeClr val="dk1"/>
                </a:highlight>
              </a:rPr>
              <a:t>Xác định phương pháp phân tích</a:t>
            </a:r>
            <a:r>
              <a:rPr b="1" lang="vi">
                <a:highlight>
                  <a:schemeClr val="dk1"/>
                </a:highlight>
              </a:rPr>
              <a:t> </a:t>
            </a:r>
            <a:endParaRPr b="1">
              <a:highlight>
                <a:schemeClr val="dk1"/>
              </a:highlight>
            </a:endParaRPr>
          </a:p>
          <a:p>
            <a:pPr indent="-342900" lvl="0" marL="457200" rtl="0" algn="l">
              <a:spcBef>
                <a:spcPts val="0"/>
              </a:spcBef>
              <a:spcAft>
                <a:spcPts val="0"/>
              </a:spcAft>
              <a:buSzPts val="1800"/>
              <a:buAutoNum type="arabicPeriod"/>
            </a:pPr>
            <a:r>
              <a:rPr b="1" lang="vi">
                <a:highlight>
                  <a:schemeClr val="dk1"/>
                </a:highlight>
              </a:rPr>
              <a:t>Làm sạch dữ liệu và tìm hiểu dữ liệu </a:t>
            </a:r>
            <a:endParaRPr b="1">
              <a:highlight>
                <a:schemeClr val="dk1"/>
              </a:highlight>
            </a:endParaRPr>
          </a:p>
          <a:p>
            <a:pPr indent="-342900" lvl="0" marL="457200" rtl="0" algn="l">
              <a:spcBef>
                <a:spcPts val="0"/>
              </a:spcBef>
              <a:spcAft>
                <a:spcPts val="0"/>
              </a:spcAft>
              <a:buSzPts val="1800"/>
              <a:buAutoNum type="arabicPeriod"/>
            </a:pPr>
            <a:r>
              <a:rPr b="1" lang="vi">
                <a:highlight>
                  <a:schemeClr val="dk1"/>
                </a:highlight>
              </a:rPr>
              <a:t>Thực hiện phân tích</a:t>
            </a:r>
            <a:endParaRPr b="1">
              <a:highlight>
                <a:schemeClr val="dk1"/>
              </a:highlight>
            </a:endParaRPr>
          </a:p>
          <a:p>
            <a:pPr indent="-342900" lvl="0" marL="457200" rtl="0" algn="l">
              <a:spcBef>
                <a:spcPts val="0"/>
              </a:spcBef>
              <a:spcAft>
                <a:spcPts val="0"/>
              </a:spcAft>
              <a:buSzPts val="1800"/>
              <a:buAutoNum type="arabicPeriod"/>
            </a:pPr>
            <a:r>
              <a:rPr b="1" lang="vi">
                <a:highlight>
                  <a:schemeClr val="dk1"/>
                </a:highlight>
              </a:rPr>
              <a:t>Đánh giá và giải pháp</a:t>
            </a:r>
            <a:endParaRPr b="1">
              <a:highlight>
                <a:schemeClr val="dk1"/>
              </a:highlight>
            </a:endParaRPr>
          </a:p>
        </p:txBody>
      </p:sp>
      <p:sp>
        <p:nvSpPr>
          <p:cNvPr id="66" name="Google Shape;66;p14"/>
          <p:cNvSpPr txBox="1"/>
          <p:nvPr/>
        </p:nvSpPr>
        <p:spPr>
          <a:xfrm>
            <a:off x="311700" y="400575"/>
            <a:ext cx="5198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2500">
                <a:latin typeface="Oswald"/>
                <a:ea typeface="Oswald"/>
                <a:cs typeface="Oswald"/>
                <a:sym typeface="Oswald"/>
              </a:rPr>
              <a:t>Tổng quan các bước phân tích dữ liệu</a:t>
            </a:r>
            <a:endParaRPr sz="2500">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0" y="0"/>
            <a:ext cx="5717700" cy="1497600"/>
          </a:xfrm>
          <a:prstGeom prst="rect">
            <a:avLst/>
          </a:prstGeom>
          <a:solidFill>
            <a:schemeClr val="accent4"/>
          </a:solidFill>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0" lang="vi" sz="2500">
                <a:highlight>
                  <a:schemeClr val="accent4"/>
                </a:highlight>
                <a:latin typeface="Oswald"/>
                <a:ea typeface="Oswald"/>
                <a:cs typeface="Oswald"/>
                <a:sym typeface="Oswald"/>
              </a:rPr>
              <a:t>1</a:t>
            </a:r>
            <a:r>
              <a:rPr b="0" lang="vi" sz="2500">
                <a:highlight>
                  <a:schemeClr val="accent4"/>
                </a:highlight>
                <a:latin typeface="Oswald"/>
                <a:ea typeface="Oswald"/>
                <a:cs typeface="Oswald"/>
                <a:sym typeface="Oswald"/>
              </a:rPr>
              <a:t>. </a:t>
            </a:r>
            <a:r>
              <a:rPr b="0" lang="vi" sz="2500">
                <a:highlight>
                  <a:schemeClr val="accent4"/>
                </a:highlight>
                <a:latin typeface="Oswald"/>
                <a:ea typeface="Oswald"/>
                <a:cs typeface="Oswald"/>
                <a:sym typeface="Oswald"/>
              </a:rPr>
              <a:t>Làm sơ đồ mindmap đặt câu hỏi vấn đề cần phân tích</a:t>
            </a:r>
            <a:endParaRPr b="0" sz="2500">
              <a:highlight>
                <a:schemeClr val="accent4"/>
              </a:highlight>
              <a:latin typeface="Oswald"/>
              <a:ea typeface="Oswald"/>
              <a:cs typeface="Oswald"/>
              <a:sym typeface="Oswald"/>
            </a:endParaRPr>
          </a:p>
          <a:p>
            <a:pPr indent="0" lvl="0" marL="0" rtl="0" algn="l">
              <a:lnSpc>
                <a:spcPct val="115000"/>
              </a:lnSpc>
              <a:spcBef>
                <a:spcPts val="1200"/>
              </a:spcBef>
              <a:spcAft>
                <a:spcPts val="1200"/>
              </a:spcAft>
              <a:buNone/>
            </a:pPr>
            <a:r>
              <a:rPr b="0" lang="vi" sz="2500">
                <a:highlight>
                  <a:schemeClr val="accent4"/>
                </a:highlight>
                <a:latin typeface="Oswald"/>
                <a:ea typeface="Oswald"/>
                <a:cs typeface="Oswald"/>
                <a:sym typeface="Oswald"/>
              </a:rPr>
              <a:t>2. Xác định phương pháp phân tích</a:t>
            </a:r>
            <a:endParaRPr b="0" sz="2500">
              <a:highlight>
                <a:schemeClr val="accent4"/>
              </a:highlight>
              <a:latin typeface="Oswald"/>
              <a:ea typeface="Oswald"/>
              <a:cs typeface="Oswald"/>
              <a:sym typeface="Oswald"/>
            </a:endParaRPr>
          </a:p>
        </p:txBody>
      </p:sp>
      <p:pic>
        <p:nvPicPr>
          <p:cNvPr id="72" name="Google Shape;72;p15"/>
          <p:cNvPicPr preferRelativeResize="0"/>
          <p:nvPr/>
        </p:nvPicPr>
        <p:blipFill>
          <a:blip r:embed="rId3">
            <a:alphaModFix/>
          </a:blip>
          <a:stretch>
            <a:fillRect/>
          </a:stretch>
        </p:blipFill>
        <p:spPr>
          <a:xfrm>
            <a:off x="152400" y="1708175"/>
            <a:ext cx="8839198" cy="29313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0" y="0"/>
            <a:ext cx="3374400" cy="10902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3. </a:t>
            </a:r>
            <a:r>
              <a:rPr lang="vi" sz="2500">
                <a:highlight>
                  <a:schemeClr val="lt1"/>
                </a:highlight>
              </a:rPr>
              <a:t>Làm sạch dữ liệu và tìm hiểu dữ liệu </a:t>
            </a:r>
            <a:endParaRPr sz="2500">
              <a:highlight>
                <a:schemeClr val="lt1"/>
              </a:highlight>
            </a:endParaRPr>
          </a:p>
        </p:txBody>
      </p:sp>
      <p:sp>
        <p:nvSpPr>
          <p:cNvPr id="78" name="Google Shape;78;p16"/>
          <p:cNvSpPr txBox="1"/>
          <p:nvPr>
            <p:ph idx="1" type="subTitle"/>
          </p:nvPr>
        </p:nvSpPr>
        <p:spPr>
          <a:xfrm>
            <a:off x="0" y="4689600"/>
            <a:ext cx="3757500" cy="453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vi" sz="800" u="sng"/>
              <a:t>Chú thích</a:t>
            </a:r>
            <a:r>
              <a:rPr lang="vi" sz="800"/>
              <a:t>: </a:t>
            </a:r>
            <a:r>
              <a:rPr lang="vi" sz="800"/>
              <a:t>Cột dữ liệu gốc Participants trong bảng Invoices</a:t>
            </a:r>
            <a:endParaRPr sz="800"/>
          </a:p>
          <a:p>
            <a:pPr indent="0" lvl="0" marL="0" rtl="0" algn="ctr">
              <a:spcBef>
                <a:spcPts val="0"/>
              </a:spcBef>
              <a:spcAft>
                <a:spcPts val="0"/>
              </a:spcAft>
              <a:buNone/>
            </a:pPr>
            <a:r>
              <a:t/>
            </a:r>
            <a:endParaRPr sz="800"/>
          </a:p>
        </p:txBody>
      </p:sp>
      <p:pic>
        <p:nvPicPr>
          <p:cNvPr id="79" name="Google Shape;79;p16"/>
          <p:cNvPicPr preferRelativeResize="0"/>
          <p:nvPr/>
        </p:nvPicPr>
        <p:blipFill>
          <a:blip r:embed="rId3">
            <a:alphaModFix/>
          </a:blip>
          <a:stretch>
            <a:fillRect/>
          </a:stretch>
        </p:blipFill>
        <p:spPr>
          <a:xfrm>
            <a:off x="649687" y="1441525"/>
            <a:ext cx="2458128" cy="3285226"/>
          </a:xfrm>
          <a:prstGeom prst="rect">
            <a:avLst/>
          </a:prstGeom>
          <a:noFill/>
          <a:ln>
            <a:noFill/>
          </a:ln>
        </p:spPr>
      </p:pic>
      <p:sp>
        <p:nvSpPr>
          <p:cNvPr id="80" name="Google Shape;80;p16"/>
          <p:cNvSpPr txBox="1"/>
          <p:nvPr/>
        </p:nvSpPr>
        <p:spPr>
          <a:xfrm>
            <a:off x="4572000" y="0"/>
            <a:ext cx="135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u="sng">
                <a:latin typeface="Playfair Display"/>
                <a:ea typeface="Playfair Display"/>
                <a:cs typeface="Playfair Display"/>
                <a:sym typeface="Playfair Display"/>
              </a:rPr>
              <a:t>Xử lý:</a:t>
            </a:r>
            <a:endParaRPr b="1" u="sng">
              <a:latin typeface="Playfair Display"/>
              <a:ea typeface="Playfair Display"/>
              <a:cs typeface="Playfair Display"/>
              <a:sym typeface="Playfair Display"/>
            </a:endParaRPr>
          </a:p>
        </p:txBody>
      </p:sp>
      <p:pic>
        <p:nvPicPr>
          <p:cNvPr id="81" name="Google Shape;81;p16"/>
          <p:cNvPicPr preferRelativeResize="0"/>
          <p:nvPr/>
        </p:nvPicPr>
        <p:blipFill>
          <a:blip r:embed="rId4">
            <a:alphaModFix/>
          </a:blip>
          <a:stretch>
            <a:fillRect/>
          </a:stretch>
        </p:blipFill>
        <p:spPr>
          <a:xfrm>
            <a:off x="4572000" y="400200"/>
            <a:ext cx="4572000" cy="1041325"/>
          </a:xfrm>
          <a:prstGeom prst="rect">
            <a:avLst/>
          </a:prstGeom>
          <a:noFill/>
          <a:ln>
            <a:noFill/>
          </a:ln>
        </p:spPr>
      </p:pic>
      <p:sp>
        <p:nvSpPr>
          <p:cNvPr id="82" name="Google Shape;82;p16"/>
          <p:cNvSpPr txBox="1"/>
          <p:nvPr/>
        </p:nvSpPr>
        <p:spPr>
          <a:xfrm>
            <a:off x="0" y="980875"/>
            <a:ext cx="135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u="sng">
                <a:latin typeface="Playfair Display"/>
                <a:ea typeface="Playfair Display"/>
                <a:cs typeface="Playfair Display"/>
                <a:sym typeface="Playfair Display"/>
              </a:rPr>
              <a:t>Thực trạng</a:t>
            </a:r>
            <a:r>
              <a:rPr b="1" lang="vi" u="sng">
                <a:latin typeface="Playfair Display"/>
                <a:ea typeface="Playfair Display"/>
                <a:cs typeface="Playfair Display"/>
                <a:sym typeface="Playfair Display"/>
              </a:rPr>
              <a:t>:</a:t>
            </a:r>
            <a:endParaRPr b="1" u="sng">
              <a:latin typeface="Playfair Display"/>
              <a:ea typeface="Playfair Display"/>
              <a:cs typeface="Playfair Display"/>
              <a:sym typeface="Playfair Display"/>
            </a:endParaRPr>
          </a:p>
        </p:txBody>
      </p:sp>
      <p:sp>
        <p:nvSpPr>
          <p:cNvPr id="83" name="Google Shape;83;p16"/>
          <p:cNvSpPr txBox="1"/>
          <p:nvPr/>
        </p:nvSpPr>
        <p:spPr>
          <a:xfrm>
            <a:off x="4572000" y="1506850"/>
            <a:ext cx="135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u="sng">
                <a:latin typeface="Playfair Display"/>
                <a:ea typeface="Playfair Display"/>
                <a:cs typeface="Playfair Display"/>
                <a:sym typeface="Playfair Display"/>
              </a:rPr>
              <a:t>Kết quả</a:t>
            </a:r>
            <a:r>
              <a:rPr b="1" lang="vi" u="sng">
                <a:latin typeface="Playfair Display"/>
                <a:ea typeface="Playfair Display"/>
                <a:cs typeface="Playfair Display"/>
                <a:sym typeface="Playfair Display"/>
              </a:rPr>
              <a:t>:</a:t>
            </a:r>
            <a:endParaRPr b="1" u="sng">
              <a:latin typeface="Playfair Display"/>
              <a:ea typeface="Playfair Display"/>
              <a:cs typeface="Playfair Display"/>
              <a:sym typeface="Playfair Display"/>
            </a:endParaRPr>
          </a:p>
        </p:txBody>
      </p:sp>
      <p:pic>
        <p:nvPicPr>
          <p:cNvPr id="84" name="Google Shape;84;p16"/>
          <p:cNvPicPr preferRelativeResize="0"/>
          <p:nvPr/>
        </p:nvPicPr>
        <p:blipFill>
          <a:blip r:embed="rId5">
            <a:alphaModFix/>
          </a:blip>
          <a:stretch>
            <a:fillRect/>
          </a:stretch>
        </p:blipFill>
        <p:spPr>
          <a:xfrm>
            <a:off x="5943975" y="1907050"/>
            <a:ext cx="1894412" cy="3236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0" y="0"/>
            <a:ext cx="3922800" cy="1131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Clr>
                <a:schemeClr val="dk2"/>
              </a:buClr>
              <a:buSzPts val="1100"/>
              <a:buFont typeface="Arial"/>
              <a:buNone/>
            </a:pPr>
            <a:r>
              <a:rPr lang="vi" sz="2500">
                <a:highlight>
                  <a:schemeClr val="lt1"/>
                </a:highlight>
              </a:rPr>
              <a:t>3</a:t>
            </a:r>
            <a:r>
              <a:rPr lang="vi" sz="2500">
                <a:highlight>
                  <a:schemeClr val="lt1"/>
                </a:highlight>
              </a:rPr>
              <a:t>. Làm sạch dữ liệu và tìm hiểu dữ liệu </a:t>
            </a:r>
            <a:endParaRPr/>
          </a:p>
        </p:txBody>
      </p:sp>
      <p:sp>
        <p:nvSpPr>
          <p:cNvPr id="90" name="Google Shape;90;p17"/>
          <p:cNvSpPr txBox="1"/>
          <p:nvPr/>
        </p:nvSpPr>
        <p:spPr>
          <a:xfrm>
            <a:off x="0" y="927975"/>
            <a:ext cx="135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u="sng">
                <a:latin typeface="Playfair Display"/>
                <a:ea typeface="Playfair Display"/>
                <a:cs typeface="Playfair Display"/>
                <a:sym typeface="Playfair Display"/>
              </a:rPr>
              <a:t>Thực trạng:</a:t>
            </a:r>
            <a:endParaRPr b="1" u="sng">
              <a:latin typeface="Playfair Display"/>
              <a:ea typeface="Playfair Display"/>
              <a:cs typeface="Playfair Display"/>
              <a:sym typeface="Playfair Display"/>
            </a:endParaRPr>
          </a:p>
        </p:txBody>
      </p:sp>
      <p:pic>
        <p:nvPicPr>
          <p:cNvPr id="91" name="Google Shape;91;p17"/>
          <p:cNvPicPr preferRelativeResize="0"/>
          <p:nvPr/>
        </p:nvPicPr>
        <p:blipFill>
          <a:blip r:embed="rId3">
            <a:alphaModFix/>
          </a:blip>
          <a:stretch>
            <a:fillRect/>
          </a:stretch>
        </p:blipFill>
        <p:spPr>
          <a:xfrm>
            <a:off x="423113" y="1350463"/>
            <a:ext cx="1548625" cy="3200500"/>
          </a:xfrm>
          <a:prstGeom prst="rect">
            <a:avLst/>
          </a:prstGeom>
          <a:noFill/>
          <a:ln>
            <a:noFill/>
          </a:ln>
        </p:spPr>
      </p:pic>
      <p:sp>
        <p:nvSpPr>
          <p:cNvPr id="92" name="Google Shape;92;p17"/>
          <p:cNvSpPr txBox="1"/>
          <p:nvPr>
            <p:ph idx="1" type="subTitle"/>
          </p:nvPr>
        </p:nvSpPr>
        <p:spPr>
          <a:xfrm>
            <a:off x="-40525" y="4573250"/>
            <a:ext cx="2293200" cy="40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sz="800" u="sng"/>
              <a:t>Chú thích</a:t>
            </a:r>
            <a:r>
              <a:rPr lang="vi" sz="800"/>
              <a:t>: Cột dữ liệu gốc Date trong bảng OrderLeads</a:t>
            </a:r>
            <a:endParaRPr sz="800"/>
          </a:p>
          <a:p>
            <a:pPr indent="0" lvl="0" marL="0" rtl="0" algn="ctr">
              <a:spcBef>
                <a:spcPts val="0"/>
              </a:spcBef>
              <a:spcAft>
                <a:spcPts val="0"/>
              </a:spcAft>
              <a:buNone/>
            </a:pPr>
            <a:r>
              <a:t/>
            </a:r>
            <a:endParaRPr sz="800"/>
          </a:p>
        </p:txBody>
      </p:sp>
      <p:sp>
        <p:nvSpPr>
          <p:cNvPr id="93" name="Google Shape;93;p17"/>
          <p:cNvSpPr txBox="1"/>
          <p:nvPr/>
        </p:nvSpPr>
        <p:spPr>
          <a:xfrm>
            <a:off x="4572000" y="0"/>
            <a:ext cx="135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u="sng">
                <a:latin typeface="Playfair Display"/>
                <a:ea typeface="Playfair Display"/>
                <a:cs typeface="Playfair Display"/>
                <a:sym typeface="Playfair Display"/>
              </a:rPr>
              <a:t>Xử lý:</a:t>
            </a:r>
            <a:endParaRPr b="1" u="sng">
              <a:latin typeface="Playfair Display"/>
              <a:ea typeface="Playfair Display"/>
              <a:cs typeface="Playfair Display"/>
              <a:sym typeface="Playfair Display"/>
            </a:endParaRPr>
          </a:p>
        </p:txBody>
      </p:sp>
      <p:sp>
        <p:nvSpPr>
          <p:cNvPr id="94" name="Google Shape;94;p17"/>
          <p:cNvSpPr txBox="1"/>
          <p:nvPr/>
        </p:nvSpPr>
        <p:spPr>
          <a:xfrm>
            <a:off x="4538750" y="2304525"/>
            <a:ext cx="135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u="sng">
                <a:latin typeface="Playfair Display"/>
                <a:ea typeface="Playfair Display"/>
                <a:cs typeface="Playfair Display"/>
                <a:sym typeface="Playfair Display"/>
              </a:rPr>
              <a:t>Kết quả:</a:t>
            </a:r>
            <a:endParaRPr b="1" u="sng">
              <a:latin typeface="Playfair Display"/>
              <a:ea typeface="Playfair Display"/>
              <a:cs typeface="Playfair Display"/>
              <a:sym typeface="Playfair Display"/>
            </a:endParaRPr>
          </a:p>
        </p:txBody>
      </p:sp>
      <p:pic>
        <p:nvPicPr>
          <p:cNvPr id="95" name="Google Shape;95;p17"/>
          <p:cNvPicPr preferRelativeResize="0"/>
          <p:nvPr/>
        </p:nvPicPr>
        <p:blipFill>
          <a:blip r:embed="rId4">
            <a:alphaModFix/>
          </a:blip>
          <a:stretch>
            <a:fillRect/>
          </a:stretch>
        </p:blipFill>
        <p:spPr>
          <a:xfrm>
            <a:off x="4572000" y="364325"/>
            <a:ext cx="4572000" cy="1833560"/>
          </a:xfrm>
          <a:prstGeom prst="rect">
            <a:avLst/>
          </a:prstGeom>
          <a:noFill/>
          <a:ln>
            <a:noFill/>
          </a:ln>
        </p:spPr>
      </p:pic>
      <p:pic>
        <p:nvPicPr>
          <p:cNvPr id="96" name="Google Shape;96;p17"/>
          <p:cNvPicPr preferRelativeResize="0"/>
          <p:nvPr/>
        </p:nvPicPr>
        <p:blipFill>
          <a:blip r:embed="rId5">
            <a:alphaModFix/>
          </a:blip>
          <a:stretch>
            <a:fillRect/>
          </a:stretch>
        </p:blipFill>
        <p:spPr>
          <a:xfrm>
            <a:off x="2571150" y="1328175"/>
            <a:ext cx="1798575" cy="3200476"/>
          </a:xfrm>
          <a:prstGeom prst="rect">
            <a:avLst/>
          </a:prstGeom>
          <a:noFill/>
          <a:ln>
            <a:noFill/>
          </a:ln>
        </p:spPr>
      </p:pic>
      <p:sp>
        <p:nvSpPr>
          <p:cNvPr id="97" name="Google Shape;97;p17"/>
          <p:cNvSpPr txBox="1"/>
          <p:nvPr>
            <p:ph idx="1" type="subTitle"/>
          </p:nvPr>
        </p:nvSpPr>
        <p:spPr>
          <a:xfrm>
            <a:off x="2252675" y="4573250"/>
            <a:ext cx="2168700" cy="40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sz="800" u="sng"/>
              <a:t>Chú thích</a:t>
            </a:r>
            <a:r>
              <a:rPr lang="vi" sz="800"/>
              <a:t>: Cột dữ liệu gốc Date trong bảng Invoices</a:t>
            </a:r>
            <a:endParaRPr sz="800"/>
          </a:p>
          <a:p>
            <a:pPr indent="0" lvl="0" marL="0" rtl="0" algn="ctr">
              <a:spcBef>
                <a:spcPts val="0"/>
              </a:spcBef>
              <a:spcAft>
                <a:spcPts val="0"/>
              </a:spcAft>
              <a:buNone/>
            </a:pPr>
            <a:r>
              <a:t/>
            </a:r>
            <a:endParaRPr sz="1000"/>
          </a:p>
        </p:txBody>
      </p:sp>
      <p:pic>
        <p:nvPicPr>
          <p:cNvPr id="98" name="Google Shape;98;p17"/>
          <p:cNvPicPr preferRelativeResize="0"/>
          <p:nvPr/>
        </p:nvPicPr>
        <p:blipFill>
          <a:blip r:embed="rId6">
            <a:alphaModFix/>
          </a:blip>
          <a:stretch>
            <a:fillRect/>
          </a:stretch>
        </p:blipFill>
        <p:spPr>
          <a:xfrm>
            <a:off x="7132819" y="2643988"/>
            <a:ext cx="653973" cy="2381950"/>
          </a:xfrm>
          <a:prstGeom prst="rect">
            <a:avLst/>
          </a:prstGeom>
          <a:noFill/>
          <a:ln>
            <a:noFill/>
          </a:ln>
        </p:spPr>
      </p:pic>
      <p:pic>
        <p:nvPicPr>
          <p:cNvPr id="99" name="Google Shape;99;p17"/>
          <p:cNvPicPr preferRelativeResize="0"/>
          <p:nvPr/>
        </p:nvPicPr>
        <p:blipFill>
          <a:blip r:embed="rId7">
            <a:alphaModFix/>
          </a:blip>
          <a:stretch>
            <a:fillRect/>
          </a:stretch>
        </p:blipFill>
        <p:spPr>
          <a:xfrm>
            <a:off x="5666125" y="2644000"/>
            <a:ext cx="700575" cy="2381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idx="1" type="subTitle"/>
          </p:nvPr>
        </p:nvSpPr>
        <p:spPr>
          <a:xfrm>
            <a:off x="0" y="877300"/>
            <a:ext cx="1155900" cy="753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vi" sz="1400" u="sng"/>
              <a:t>Thực trạng:</a:t>
            </a:r>
            <a:endParaRPr b="1" sz="1400" u="sng"/>
          </a:p>
        </p:txBody>
      </p:sp>
      <p:sp>
        <p:nvSpPr>
          <p:cNvPr id="105" name="Google Shape;105;p18"/>
          <p:cNvSpPr txBox="1"/>
          <p:nvPr/>
        </p:nvSpPr>
        <p:spPr>
          <a:xfrm>
            <a:off x="0" y="0"/>
            <a:ext cx="30000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vi" sz="2500">
                <a:solidFill>
                  <a:schemeClr val="dk2"/>
                </a:solidFill>
                <a:highlight>
                  <a:schemeClr val="lt1"/>
                </a:highlight>
                <a:latin typeface="Oswald"/>
                <a:ea typeface="Oswald"/>
                <a:cs typeface="Oswald"/>
                <a:sym typeface="Oswald"/>
              </a:rPr>
              <a:t>3</a:t>
            </a:r>
            <a:r>
              <a:rPr lang="vi" sz="2500">
                <a:solidFill>
                  <a:schemeClr val="dk2"/>
                </a:solidFill>
                <a:highlight>
                  <a:schemeClr val="lt1"/>
                </a:highlight>
                <a:latin typeface="Oswald"/>
                <a:ea typeface="Oswald"/>
                <a:cs typeface="Oswald"/>
                <a:sym typeface="Oswald"/>
              </a:rPr>
              <a:t>. Làm sạch dữ liệu và tìm hiểu dữ liệu </a:t>
            </a:r>
            <a:endParaRPr/>
          </a:p>
        </p:txBody>
      </p:sp>
      <p:pic>
        <p:nvPicPr>
          <p:cNvPr id="106" name="Google Shape;106;p18"/>
          <p:cNvPicPr preferRelativeResize="0"/>
          <p:nvPr/>
        </p:nvPicPr>
        <p:blipFill>
          <a:blip r:embed="rId3">
            <a:alphaModFix/>
          </a:blip>
          <a:stretch>
            <a:fillRect/>
          </a:stretch>
        </p:blipFill>
        <p:spPr>
          <a:xfrm>
            <a:off x="1313800" y="1307400"/>
            <a:ext cx="1328900" cy="2849025"/>
          </a:xfrm>
          <a:prstGeom prst="rect">
            <a:avLst/>
          </a:prstGeom>
          <a:noFill/>
          <a:ln>
            <a:noFill/>
          </a:ln>
        </p:spPr>
      </p:pic>
      <p:sp>
        <p:nvSpPr>
          <p:cNvPr id="107" name="Google Shape;107;p18"/>
          <p:cNvSpPr txBox="1"/>
          <p:nvPr/>
        </p:nvSpPr>
        <p:spPr>
          <a:xfrm>
            <a:off x="478250" y="4271025"/>
            <a:ext cx="30000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vi" sz="800" u="sng">
                <a:solidFill>
                  <a:schemeClr val="dk2"/>
                </a:solidFill>
                <a:latin typeface="Playfair Display"/>
                <a:ea typeface="Playfair Display"/>
                <a:cs typeface="Playfair Display"/>
                <a:sym typeface="Playfair Display"/>
              </a:rPr>
              <a:t>Chú thích</a:t>
            </a:r>
            <a:r>
              <a:rPr lang="vi" sz="800">
                <a:solidFill>
                  <a:schemeClr val="dk2"/>
                </a:solidFill>
                <a:latin typeface="Playfair Display"/>
                <a:ea typeface="Playfair Display"/>
                <a:cs typeface="Playfair Display"/>
                <a:sym typeface="Playfair Display"/>
              </a:rPr>
              <a:t>: Cột dữ liệu gốc Converted trong bảng OrderLeads</a:t>
            </a:r>
            <a:endParaRPr/>
          </a:p>
        </p:txBody>
      </p:sp>
      <p:sp>
        <p:nvSpPr>
          <p:cNvPr id="108" name="Google Shape;108;p18"/>
          <p:cNvSpPr txBox="1"/>
          <p:nvPr>
            <p:ph idx="1" type="subTitle"/>
          </p:nvPr>
        </p:nvSpPr>
        <p:spPr>
          <a:xfrm>
            <a:off x="4572000" y="0"/>
            <a:ext cx="763500" cy="483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vi" sz="1400" u="sng"/>
              <a:t>Xử lý</a:t>
            </a:r>
            <a:r>
              <a:rPr b="1" lang="vi" sz="1400" u="sng"/>
              <a:t>:</a:t>
            </a:r>
            <a:endParaRPr b="1" sz="1400" u="sng"/>
          </a:p>
        </p:txBody>
      </p:sp>
      <p:pic>
        <p:nvPicPr>
          <p:cNvPr id="109" name="Google Shape;109;p18"/>
          <p:cNvPicPr preferRelativeResize="0"/>
          <p:nvPr/>
        </p:nvPicPr>
        <p:blipFill>
          <a:blip r:embed="rId4">
            <a:alphaModFix/>
          </a:blip>
          <a:stretch>
            <a:fillRect/>
          </a:stretch>
        </p:blipFill>
        <p:spPr>
          <a:xfrm>
            <a:off x="4572000" y="403325"/>
            <a:ext cx="4572000" cy="666750"/>
          </a:xfrm>
          <a:prstGeom prst="rect">
            <a:avLst/>
          </a:prstGeom>
          <a:noFill/>
          <a:ln>
            <a:noFill/>
          </a:ln>
        </p:spPr>
      </p:pic>
      <p:sp>
        <p:nvSpPr>
          <p:cNvPr id="110" name="Google Shape;110;p18"/>
          <p:cNvSpPr txBox="1"/>
          <p:nvPr>
            <p:ph idx="1" type="subTitle"/>
          </p:nvPr>
        </p:nvSpPr>
        <p:spPr>
          <a:xfrm>
            <a:off x="4572000" y="1204875"/>
            <a:ext cx="901800" cy="48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vi" sz="1400" u="sng"/>
              <a:t>Kết </a:t>
            </a:r>
            <a:r>
              <a:rPr b="1" lang="vi" sz="1400" u="sng"/>
              <a:t>quả</a:t>
            </a:r>
            <a:r>
              <a:rPr b="1" lang="vi" sz="1400" u="sng"/>
              <a:t>:</a:t>
            </a:r>
            <a:endParaRPr b="1" sz="1400" u="sng"/>
          </a:p>
        </p:txBody>
      </p:sp>
      <p:pic>
        <p:nvPicPr>
          <p:cNvPr id="111" name="Google Shape;111;p18"/>
          <p:cNvPicPr preferRelativeResize="0"/>
          <p:nvPr/>
        </p:nvPicPr>
        <p:blipFill>
          <a:blip r:embed="rId5">
            <a:alphaModFix/>
          </a:blip>
          <a:stretch>
            <a:fillRect/>
          </a:stretch>
        </p:blipFill>
        <p:spPr>
          <a:xfrm>
            <a:off x="6159513" y="1578300"/>
            <a:ext cx="1396975" cy="34719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idx="1" type="subTitle"/>
          </p:nvPr>
        </p:nvSpPr>
        <p:spPr>
          <a:xfrm>
            <a:off x="99300" y="1899001"/>
            <a:ext cx="4045200" cy="134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sz="1500" u="sng"/>
              <a:t>Nhận xét:</a:t>
            </a:r>
            <a:endParaRPr b="1" sz="1500" u="sng"/>
          </a:p>
          <a:p>
            <a:pPr indent="0" lvl="0" marL="0" rtl="0" algn="l">
              <a:spcBef>
                <a:spcPts val="0"/>
              </a:spcBef>
              <a:spcAft>
                <a:spcPts val="0"/>
              </a:spcAft>
              <a:buNone/>
            </a:pPr>
            <a:r>
              <a:rPr lang="vi" sz="1500"/>
              <a:t>Nhìn chung tỉ lệ đơn hàng không thành công chiếm  nhiều hơn so với đơn hàng thành công qua các năm (từ 2014 đến 2018)</a:t>
            </a:r>
            <a:endParaRPr sz="1500"/>
          </a:p>
        </p:txBody>
      </p:sp>
      <p:sp>
        <p:nvSpPr>
          <p:cNvPr id="117" name="Google Shape;117;p19"/>
          <p:cNvSpPr txBox="1"/>
          <p:nvPr>
            <p:ph type="title"/>
          </p:nvPr>
        </p:nvSpPr>
        <p:spPr>
          <a:xfrm>
            <a:off x="0" y="0"/>
            <a:ext cx="2884200" cy="624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4. </a:t>
            </a:r>
            <a:r>
              <a:rPr lang="vi" sz="2500">
                <a:highlight>
                  <a:schemeClr val="lt1"/>
                </a:highlight>
              </a:rPr>
              <a:t>Thực hiện phân tích</a:t>
            </a:r>
            <a:endParaRPr sz="2500">
              <a:highlight>
                <a:schemeClr val="lt1"/>
              </a:highlight>
            </a:endParaRPr>
          </a:p>
        </p:txBody>
      </p:sp>
      <p:pic>
        <p:nvPicPr>
          <p:cNvPr id="118" name="Google Shape;118;p19"/>
          <p:cNvPicPr preferRelativeResize="0"/>
          <p:nvPr/>
        </p:nvPicPr>
        <p:blipFill>
          <a:blip r:embed="rId3">
            <a:alphaModFix/>
          </a:blip>
          <a:stretch>
            <a:fillRect/>
          </a:stretch>
        </p:blipFill>
        <p:spPr>
          <a:xfrm>
            <a:off x="4572000" y="924075"/>
            <a:ext cx="4572000" cy="3448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idx="1" type="subTitle"/>
          </p:nvPr>
        </p:nvSpPr>
        <p:spPr>
          <a:xfrm>
            <a:off x="265500" y="1899001"/>
            <a:ext cx="4045200" cy="134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sz="1500" u="sng"/>
              <a:t>Nhận xét:</a:t>
            </a:r>
            <a:endParaRPr b="1" sz="1500" u="sng"/>
          </a:p>
          <a:p>
            <a:pPr indent="0" lvl="0" marL="0" rtl="0" algn="l">
              <a:spcBef>
                <a:spcPts val="0"/>
              </a:spcBef>
              <a:spcAft>
                <a:spcPts val="0"/>
              </a:spcAft>
              <a:buNone/>
            </a:pPr>
            <a:r>
              <a:rPr lang="vi" sz="1500"/>
              <a:t>Không có sự khác biệt lớn giữa các bữa ăn và bữa ăn tối là bữa ăn được nhiều người lựa chọn nhất qua các năm (từ 2014 đến 2018)</a:t>
            </a:r>
            <a:endParaRPr sz="1500"/>
          </a:p>
        </p:txBody>
      </p:sp>
      <p:sp>
        <p:nvSpPr>
          <p:cNvPr id="124" name="Google Shape;124;p20"/>
          <p:cNvSpPr txBox="1"/>
          <p:nvPr>
            <p:ph type="title"/>
          </p:nvPr>
        </p:nvSpPr>
        <p:spPr>
          <a:xfrm>
            <a:off x="0" y="0"/>
            <a:ext cx="2884200" cy="624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4. Thực hiện phân tích</a:t>
            </a:r>
            <a:endParaRPr sz="2500">
              <a:highlight>
                <a:schemeClr val="lt1"/>
              </a:highlight>
            </a:endParaRPr>
          </a:p>
        </p:txBody>
      </p:sp>
      <p:pic>
        <p:nvPicPr>
          <p:cNvPr id="125" name="Google Shape;125;p20"/>
          <p:cNvPicPr preferRelativeResize="0"/>
          <p:nvPr/>
        </p:nvPicPr>
        <p:blipFill>
          <a:blip r:embed="rId3">
            <a:alphaModFix/>
          </a:blip>
          <a:stretch>
            <a:fillRect/>
          </a:stretch>
        </p:blipFill>
        <p:spPr>
          <a:xfrm>
            <a:off x="4578525" y="1181650"/>
            <a:ext cx="4565474" cy="2529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0" y="0"/>
            <a:ext cx="2884200" cy="624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4. Thực hiện phân tích</a:t>
            </a:r>
            <a:endParaRPr sz="2500">
              <a:highlight>
                <a:schemeClr val="lt1"/>
              </a:highlight>
            </a:endParaRPr>
          </a:p>
        </p:txBody>
      </p:sp>
      <p:sp>
        <p:nvSpPr>
          <p:cNvPr id="131" name="Google Shape;131;p21"/>
          <p:cNvSpPr txBox="1"/>
          <p:nvPr>
            <p:ph idx="1" type="subTitle"/>
          </p:nvPr>
        </p:nvSpPr>
        <p:spPr>
          <a:xfrm>
            <a:off x="265500" y="1899001"/>
            <a:ext cx="4045200" cy="134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sz="1500" u="sng"/>
              <a:t>Nhận xét:</a:t>
            </a:r>
            <a:endParaRPr b="1" sz="1500" u="sng"/>
          </a:p>
          <a:p>
            <a:pPr indent="0" lvl="0" marL="0" rtl="0" algn="l">
              <a:spcBef>
                <a:spcPts val="0"/>
              </a:spcBef>
              <a:spcAft>
                <a:spcPts val="0"/>
              </a:spcAft>
              <a:buNone/>
            </a:pPr>
            <a:r>
              <a:rPr lang="vi" sz="1500"/>
              <a:t>Qua mỗi năm sẽ có một nhà cung cấp được yêu thích nhất nhưng khi tổng các năm ta có thể thấy 2 nhà cung cấp được yêu thích nhất là Fussy Androfski và Too-Hearty Jurors</a:t>
            </a:r>
            <a:endParaRPr sz="1500"/>
          </a:p>
        </p:txBody>
      </p:sp>
      <p:pic>
        <p:nvPicPr>
          <p:cNvPr id="132" name="Google Shape;132;p21"/>
          <p:cNvPicPr preferRelativeResize="0"/>
          <p:nvPr/>
        </p:nvPicPr>
        <p:blipFill>
          <a:blip r:embed="rId3">
            <a:alphaModFix/>
          </a:blip>
          <a:stretch>
            <a:fillRect/>
          </a:stretch>
        </p:blipFill>
        <p:spPr>
          <a:xfrm>
            <a:off x="4572000" y="1207700"/>
            <a:ext cx="4572000" cy="2438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0" y="0"/>
            <a:ext cx="2884200" cy="624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4. Thực hiện phân tích</a:t>
            </a:r>
            <a:endParaRPr sz="2500">
              <a:highlight>
                <a:schemeClr val="lt1"/>
              </a:highlight>
            </a:endParaRPr>
          </a:p>
        </p:txBody>
      </p:sp>
      <p:pic>
        <p:nvPicPr>
          <p:cNvPr id="138" name="Google Shape;138;p22"/>
          <p:cNvPicPr preferRelativeResize="0"/>
          <p:nvPr/>
        </p:nvPicPr>
        <p:blipFill>
          <a:blip r:embed="rId3">
            <a:alphaModFix/>
          </a:blip>
          <a:stretch>
            <a:fillRect/>
          </a:stretch>
        </p:blipFill>
        <p:spPr>
          <a:xfrm>
            <a:off x="4572000" y="960100"/>
            <a:ext cx="4571999" cy="2647950"/>
          </a:xfrm>
          <a:prstGeom prst="rect">
            <a:avLst/>
          </a:prstGeom>
          <a:noFill/>
          <a:ln>
            <a:noFill/>
          </a:ln>
        </p:spPr>
      </p:pic>
      <p:sp>
        <p:nvSpPr>
          <p:cNvPr id="139" name="Google Shape;139;p22"/>
          <p:cNvSpPr txBox="1"/>
          <p:nvPr>
            <p:ph idx="1" type="subTitle"/>
          </p:nvPr>
        </p:nvSpPr>
        <p:spPr>
          <a:xfrm>
            <a:off x="0" y="1389400"/>
            <a:ext cx="4572000" cy="331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sz="1500" u="sng"/>
              <a:t>Nhận xét:</a:t>
            </a:r>
            <a:endParaRPr b="1" sz="1500" u="sng"/>
          </a:p>
          <a:p>
            <a:pPr indent="0" lvl="0" marL="0" rtl="0" algn="l">
              <a:spcBef>
                <a:spcPts val="0"/>
              </a:spcBef>
              <a:spcAft>
                <a:spcPts val="0"/>
              </a:spcAft>
              <a:buNone/>
            </a:pPr>
            <a:r>
              <a:rPr lang="vi" sz="1500"/>
              <a:t>Đơn hàng có xu hướng hủy nhiều nhất vào từ tháng 10 cho đến tháng 12</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vi" sz="1500" u="sng"/>
              <a:t>Nguyên nhân:</a:t>
            </a:r>
            <a:endParaRPr sz="1500"/>
          </a:p>
          <a:p>
            <a:pPr indent="-323850" lvl="0" marL="457200" rtl="0" algn="l">
              <a:spcBef>
                <a:spcPts val="0"/>
              </a:spcBef>
              <a:spcAft>
                <a:spcPts val="0"/>
              </a:spcAft>
              <a:buSzPts val="1500"/>
              <a:buChar char="-"/>
            </a:pPr>
            <a:r>
              <a:rPr lang="vi" sz="1500"/>
              <a:t>Sự thay đổi xu hướng mua bán</a:t>
            </a:r>
            <a:endParaRPr sz="1500"/>
          </a:p>
          <a:p>
            <a:pPr indent="-323850" lvl="0" marL="457200" rtl="0" algn="l">
              <a:spcBef>
                <a:spcPts val="0"/>
              </a:spcBef>
              <a:spcAft>
                <a:spcPts val="0"/>
              </a:spcAft>
              <a:buSzPts val="1500"/>
              <a:buChar char="-"/>
            </a:pPr>
            <a:r>
              <a:rPr lang="vi" sz="1500"/>
              <a:t>Thay đổi thời tiết</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idx="1" type="subTitle"/>
          </p:nvPr>
        </p:nvSpPr>
        <p:spPr>
          <a:xfrm>
            <a:off x="123825" y="1366400"/>
            <a:ext cx="4357800" cy="773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688"/>
              <a:buNone/>
            </a:pPr>
            <a:r>
              <a:rPr b="1" lang="vi" sz="1512" u="sng"/>
              <a:t>Nhận xét:</a:t>
            </a:r>
            <a:endParaRPr b="1" sz="1512" u="sng"/>
          </a:p>
          <a:p>
            <a:pPr indent="0" lvl="0" marL="0" rtl="0" algn="l">
              <a:lnSpc>
                <a:spcPct val="90000"/>
              </a:lnSpc>
              <a:spcBef>
                <a:spcPts val="0"/>
              </a:spcBef>
              <a:spcAft>
                <a:spcPts val="0"/>
              </a:spcAft>
              <a:buSzPts val="688"/>
              <a:buNone/>
            </a:pPr>
            <a:r>
              <a:rPr lang="vi" sz="1512"/>
              <a:t>Nhìn vào đồ thị chúng ta thấy Gene Nerad có số lượng hủy là cao nhất(có đến 350 đơn hàng)</a:t>
            </a:r>
            <a:endParaRPr sz="1512"/>
          </a:p>
          <a:p>
            <a:pPr indent="0" lvl="0" marL="0" rtl="0" algn="l">
              <a:lnSpc>
                <a:spcPct val="90000"/>
              </a:lnSpc>
              <a:spcBef>
                <a:spcPts val="0"/>
              </a:spcBef>
              <a:spcAft>
                <a:spcPts val="0"/>
              </a:spcAft>
              <a:buSzPts val="688"/>
              <a:buNone/>
            </a:pPr>
            <a:r>
              <a:t/>
            </a:r>
            <a:endParaRPr sz="1512"/>
          </a:p>
          <a:p>
            <a:pPr indent="0" lvl="0" marL="0" rtl="0" algn="l">
              <a:lnSpc>
                <a:spcPct val="90000"/>
              </a:lnSpc>
              <a:spcBef>
                <a:spcPts val="0"/>
              </a:spcBef>
              <a:spcAft>
                <a:spcPts val="0"/>
              </a:spcAft>
              <a:buSzPts val="688"/>
              <a:buNone/>
            </a:pPr>
            <a:r>
              <a:rPr b="1" lang="vi" sz="1512" u="sng"/>
              <a:t>Nguyên nhân:</a:t>
            </a:r>
            <a:endParaRPr b="1" sz="1512" u="sng"/>
          </a:p>
          <a:p>
            <a:pPr indent="-324643" lvl="0" marL="457200" rtl="0" algn="l">
              <a:lnSpc>
                <a:spcPct val="90000"/>
              </a:lnSpc>
              <a:spcBef>
                <a:spcPts val="0"/>
              </a:spcBef>
              <a:spcAft>
                <a:spcPts val="0"/>
              </a:spcAft>
              <a:buSzPts val="1513"/>
              <a:buChar char="-"/>
            </a:pPr>
            <a:r>
              <a:rPr lang="vi" sz="1512"/>
              <a:t>Thái độ phục vụ chưa tốt</a:t>
            </a:r>
            <a:endParaRPr sz="1512"/>
          </a:p>
          <a:p>
            <a:pPr indent="-324643" lvl="0" marL="457200" rtl="0" algn="l">
              <a:lnSpc>
                <a:spcPct val="90000"/>
              </a:lnSpc>
              <a:spcBef>
                <a:spcPts val="0"/>
              </a:spcBef>
              <a:spcAft>
                <a:spcPts val="0"/>
              </a:spcAft>
              <a:buSzPts val="1513"/>
              <a:buChar char="-"/>
            </a:pPr>
            <a:r>
              <a:rPr lang="vi" sz="1512"/>
              <a:t>Thiếu kiến thức về sản phẩm</a:t>
            </a:r>
            <a:endParaRPr sz="1512"/>
          </a:p>
          <a:p>
            <a:pPr indent="0" lvl="0" marL="457200" rtl="0" algn="l">
              <a:lnSpc>
                <a:spcPct val="90000"/>
              </a:lnSpc>
              <a:spcBef>
                <a:spcPts val="0"/>
              </a:spcBef>
              <a:spcAft>
                <a:spcPts val="0"/>
              </a:spcAft>
              <a:buNone/>
            </a:pPr>
            <a:r>
              <a:t/>
            </a:r>
            <a:endParaRPr sz="1512"/>
          </a:p>
          <a:p>
            <a:pPr indent="0" lvl="0" marL="0" rtl="0" algn="l">
              <a:lnSpc>
                <a:spcPct val="90000"/>
              </a:lnSpc>
              <a:spcBef>
                <a:spcPts val="0"/>
              </a:spcBef>
              <a:spcAft>
                <a:spcPts val="0"/>
              </a:spcAft>
              <a:buSzPts val="688"/>
              <a:buNone/>
            </a:pPr>
            <a:r>
              <a:t/>
            </a:r>
            <a:endParaRPr sz="1512"/>
          </a:p>
        </p:txBody>
      </p:sp>
      <p:sp>
        <p:nvSpPr>
          <p:cNvPr id="145" name="Google Shape;145;p23"/>
          <p:cNvSpPr txBox="1"/>
          <p:nvPr>
            <p:ph type="title"/>
          </p:nvPr>
        </p:nvSpPr>
        <p:spPr>
          <a:xfrm>
            <a:off x="0" y="0"/>
            <a:ext cx="2884200" cy="624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4. Thực hiện phân tích</a:t>
            </a:r>
            <a:endParaRPr sz="2500">
              <a:highlight>
                <a:schemeClr val="lt1"/>
              </a:highlight>
            </a:endParaRPr>
          </a:p>
        </p:txBody>
      </p:sp>
      <p:pic>
        <p:nvPicPr>
          <p:cNvPr id="146" name="Google Shape;146;p23"/>
          <p:cNvPicPr preferRelativeResize="0"/>
          <p:nvPr/>
        </p:nvPicPr>
        <p:blipFill>
          <a:blip r:embed="rId3">
            <a:alphaModFix/>
          </a:blip>
          <a:stretch>
            <a:fillRect/>
          </a:stretch>
        </p:blipFill>
        <p:spPr>
          <a:xfrm>
            <a:off x="4572000" y="865900"/>
            <a:ext cx="4572000" cy="3344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idx="1" type="subTitle"/>
          </p:nvPr>
        </p:nvSpPr>
        <p:spPr>
          <a:xfrm>
            <a:off x="0" y="1400800"/>
            <a:ext cx="4310700" cy="17916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b="1" lang="vi" sz="3750" u="sng"/>
              <a:t>Nhận xét:</a:t>
            </a:r>
            <a:endParaRPr b="1" sz="3750" u="sng"/>
          </a:p>
          <a:p>
            <a:pPr indent="0" lvl="0" marL="0" rtl="0" algn="l">
              <a:spcBef>
                <a:spcPts val="0"/>
              </a:spcBef>
              <a:spcAft>
                <a:spcPts val="0"/>
              </a:spcAft>
              <a:buNone/>
            </a:pPr>
            <a:r>
              <a:rPr lang="vi" sz="3750"/>
              <a:t>Nhà cung cấp có số lượng đơn hàng bị hủy nhiều nhất là </a:t>
            </a:r>
            <a:r>
              <a:rPr b="1" lang="vi" sz="3750"/>
              <a:t>Poly-Unsaturated Snobbery </a:t>
            </a:r>
            <a:r>
              <a:rPr lang="vi" sz="3750"/>
              <a:t>với số đơn hàng bị hủy là 35 qua các năm (từ 2014 đến 2018 </a:t>
            </a:r>
            <a:endParaRPr sz="3750"/>
          </a:p>
          <a:p>
            <a:pPr indent="0" lvl="0" marL="0" rtl="0" algn="l">
              <a:spcBef>
                <a:spcPts val="0"/>
              </a:spcBef>
              <a:spcAft>
                <a:spcPts val="0"/>
              </a:spcAft>
              <a:buNone/>
            </a:pPr>
            <a:r>
              <a:t/>
            </a:r>
            <a:endParaRPr sz="3750"/>
          </a:p>
          <a:p>
            <a:pPr indent="0" lvl="0" marL="0" rtl="0" algn="l">
              <a:spcBef>
                <a:spcPts val="0"/>
              </a:spcBef>
              <a:spcAft>
                <a:spcPts val="0"/>
              </a:spcAft>
              <a:buNone/>
            </a:pPr>
            <a:r>
              <a:rPr b="1" lang="vi" sz="3750" u="sng"/>
              <a:t>Nguyên nhân:</a:t>
            </a:r>
            <a:endParaRPr b="1" sz="3750" u="sng"/>
          </a:p>
          <a:p>
            <a:pPr indent="-323850" lvl="0" marL="457200" rtl="0" algn="l">
              <a:spcBef>
                <a:spcPts val="0"/>
              </a:spcBef>
              <a:spcAft>
                <a:spcPts val="0"/>
              </a:spcAft>
              <a:buSzPct val="100000"/>
              <a:buChar char="-"/>
            </a:pPr>
            <a:r>
              <a:rPr lang="vi" sz="3750"/>
              <a:t>Chất lượng sản phẩm không tốt</a:t>
            </a:r>
            <a:endParaRPr sz="3750"/>
          </a:p>
          <a:p>
            <a:pPr indent="-323850" lvl="0" marL="457200" rtl="0" algn="l">
              <a:spcBef>
                <a:spcPts val="0"/>
              </a:spcBef>
              <a:spcAft>
                <a:spcPts val="0"/>
              </a:spcAft>
              <a:buSzPct val="100000"/>
              <a:buChar char="-"/>
            </a:pPr>
            <a:r>
              <a:rPr lang="vi" sz="3750"/>
              <a:t>Giá cả sản phẩm có thể không hợp lý</a:t>
            </a:r>
            <a:endParaRPr sz="3750"/>
          </a:p>
          <a:p>
            <a:pPr indent="0" lvl="0" marL="0" rtl="0" algn="ctr">
              <a:spcBef>
                <a:spcPts val="0"/>
              </a:spcBef>
              <a:spcAft>
                <a:spcPts val="0"/>
              </a:spcAft>
              <a:buNone/>
            </a:pPr>
            <a:r>
              <a:t/>
            </a:r>
            <a:endParaRPr/>
          </a:p>
        </p:txBody>
      </p:sp>
      <p:pic>
        <p:nvPicPr>
          <p:cNvPr id="152" name="Google Shape;152;p24"/>
          <p:cNvPicPr preferRelativeResize="0"/>
          <p:nvPr/>
        </p:nvPicPr>
        <p:blipFill>
          <a:blip r:embed="rId3">
            <a:alphaModFix/>
          </a:blip>
          <a:stretch>
            <a:fillRect/>
          </a:stretch>
        </p:blipFill>
        <p:spPr>
          <a:xfrm>
            <a:off x="4572000" y="716325"/>
            <a:ext cx="4572000" cy="3860950"/>
          </a:xfrm>
          <a:prstGeom prst="rect">
            <a:avLst/>
          </a:prstGeom>
          <a:noFill/>
          <a:ln>
            <a:noFill/>
          </a:ln>
        </p:spPr>
      </p:pic>
      <p:sp>
        <p:nvSpPr>
          <p:cNvPr id="153" name="Google Shape;153;p24"/>
          <p:cNvSpPr txBox="1"/>
          <p:nvPr>
            <p:ph type="title"/>
          </p:nvPr>
        </p:nvSpPr>
        <p:spPr>
          <a:xfrm>
            <a:off x="0" y="0"/>
            <a:ext cx="2884200" cy="624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None/>
            </a:pPr>
            <a:r>
              <a:rPr lang="vi" sz="2500">
                <a:highlight>
                  <a:schemeClr val="lt1"/>
                </a:highlight>
              </a:rPr>
              <a:t>4. Thực hiện phân tích</a:t>
            </a:r>
            <a:endParaRPr sz="2500">
              <a:highlight>
                <a:schemeClr val="lt1"/>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44250" y="508600"/>
            <a:ext cx="8547600" cy="3042000"/>
          </a:xfrm>
          <a:prstGeom prst="rect">
            <a:avLst/>
          </a:prstGeom>
          <a:solidFill>
            <a:schemeClr val="dk1"/>
          </a:solidFill>
        </p:spPr>
        <p:txBody>
          <a:bodyPr anchorCtr="0" anchor="ctr" bIns="91425" lIns="91425" spcFirstLastPara="1" rIns="91425" wrap="square" tIns="91425">
            <a:normAutofit fontScale="90000"/>
          </a:bodyPr>
          <a:lstStyle/>
          <a:p>
            <a:pPr indent="0" lvl="0" marL="0" rtl="0" algn="just">
              <a:spcBef>
                <a:spcPts val="0"/>
              </a:spcBef>
              <a:spcAft>
                <a:spcPts val="0"/>
              </a:spcAft>
              <a:buNone/>
            </a:pPr>
            <a:r>
              <a:rPr b="0" lang="vi" sz="1300" u="sng">
                <a:highlight>
                  <a:schemeClr val="dk1"/>
                </a:highlight>
              </a:rPr>
              <a:t>Đánh giá:</a:t>
            </a:r>
            <a:endParaRPr b="0" sz="1300" u="sng">
              <a:highlight>
                <a:schemeClr val="dk1"/>
              </a:highlight>
            </a:endParaRPr>
          </a:p>
          <a:p>
            <a:pPr indent="0" lvl="0" marL="0" rtl="0" algn="just">
              <a:spcBef>
                <a:spcPts val="0"/>
              </a:spcBef>
              <a:spcAft>
                <a:spcPts val="0"/>
              </a:spcAft>
              <a:buNone/>
            </a:pPr>
            <a:r>
              <a:rPr b="0" lang="vi" sz="1300">
                <a:highlight>
                  <a:schemeClr val="dk1"/>
                </a:highlight>
              </a:rPr>
              <a:t>Qua quá trình phân tích trên ta thấy là tình hình kinh doanh của siêu thị không tốt qua các năm (từ 2014 đến 2018) vì tỉ lệ hủy đơn hàng chiếm cao nhiều so với tỷ lệ đơn hàng thành công </a:t>
            </a:r>
            <a:endParaRPr b="0" sz="1300">
              <a:highlight>
                <a:schemeClr val="dk1"/>
              </a:highlight>
            </a:endParaRPr>
          </a:p>
          <a:p>
            <a:pPr indent="0" lvl="0" marL="0" rtl="0" algn="just">
              <a:spcBef>
                <a:spcPts val="0"/>
              </a:spcBef>
              <a:spcAft>
                <a:spcPts val="0"/>
              </a:spcAft>
              <a:buNone/>
            </a:pPr>
            <a:r>
              <a:rPr b="0" lang="vi" sz="1300">
                <a:highlight>
                  <a:schemeClr val="dk1"/>
                </a:highlight>
              </a:rPr>
              <a:t>Tỉ lệ hủy đơn hàng có xu hướng xuất nhiều từ tháng 10 đến tháng 12 trong các năm </a:t>
            </a:r>
            <a:endParaRPr b="0" sz="1300">
              <a:highlight>
                <a:schemeClr val="dk1"/>
              </a:highlight>
            </a:endParaRPr>
          </a:p>
          <a:p>
            <a:pPr indent="0" lvl="0" marL="0" rtl="0" algn="just">
              <a:spcBef>
                <a:spcPts val="0"/>
              </a:spcBef>
              <a:spcAft>
                <a:spcPts val="0"/>
              </a:spcAft>
              <a:buNone/>
            </a:pPr>
            <a:r>
              <a:rPr b="0" lang="vi" sz="1300" u="sng">
                <a:highlight>
                  <a:schemeClr val="dk1"/>
                </a:highlight>
              </a:rPr>
              <a:t>Giải pháp:</a:t>
            </a:r>
            <a:endParaRPr b="0" sz="1300" u="sng">
              <a:highlight>
                <a:schemeClr val="dk1"/>
              </a:highlight>
            </a:endParaRPr>
          </a:p>
          <a:p>
            <a:pPr indent="-302895" lvl="0" marL="457200" rtl="0" algn="just">
              <a:spcBef>
                <a:spcPts val="0"/>
              </a:spcBef>
              <a:spcAft>
                <a:spcPts val="0"/>
              </a:spcAft>
              <a:buSzPct val="100000"/>
              <a:buChar char="●"/>
            </a:pPr>
            <a:r>
              <a:rPr b="0" lang="vi" sz="1300">
                <a:highlight>
                  <a:schemeClr val="dk1"/>
                </a:highlight>
              </a:rPr>
              <a:t>Ngừng chọn nhà cung cấp mà có số lượng hủy đơn hàng cao nhất hoặc đề nghị nhà cung cấp cải thiện chất lượng sản phẩm</a:t>
            </a:r>
            <a:endParaRPr b="0" sz="1300">
              <a:highlight>
                <a:schemeClr val="dk1"/>
              </a:highlight>
            </a:endParaRPr>
          </a:p>
          <a:p>
            <a:pPr indent="-302895" lvl="0" marL="457200" rtl="0" algn="just">
              <a:spcBef>
                <a:spcPts val="0"/>
              </a:spcBef>
              <a:spcAft>
                <a:spcPts val="0"/>
              </a:spcAft>
              <a:buSzPct val="100000"/>
              <a:buChar char="●"/>
            </a:pPr>
            <a:r>
              <a:rPr b="0" lang="vi" sz="1300">
                <a:highlight>
                  <a:schemeClr val="dk1"/>
                </a:highlight>
              </a:rPr>
              <a:t>Đào tạo lại nghiệp vụ đối với những nhân viên sale có tỉ lệ đơn hàng bị hủy cao nhất</a:t>
            </a:r>
            <a:endParaRPr b="0" sz="1300">
              <a:highlight>
                <a:schemeClr val="dk1"/>
              </a:highlight>
            </a:endParaRPr>
          </a:p>
          <a:p>
            <a:pPr indent="-302895" lvl="0" marL="457200" rtl="0" algn="just">
              <a:spcBef>
                <a:spcPts val="0"/>
              </a:spcBef>
              <a:spcAft>
                <a:spcPts val="0"/>
              </a:spcAft>
              <a:buSzPct val="100000"/>
              <a:buChar char="●"/>
            </a:pPr>
            <a:r>
              <a:rPr b="0" lang="vi" sz="1300">
                <a:highlight>
                  <a:schemeClr val="dk1"/>
                </a:highlight>
              </a:rPr>
              <a:t>Tập trung phát triển đa dạng hơn với những bữa ăn đành cho bữa tối vì đây là bữa có xu hướng dùng nhiều nhất</a:t>
            </a:r>
            <a:endParaRPr b="0" sz="1300">
              <a:highlight>
                <a:schemeClr val="dk1"/>
              </a:highlight>
            </a:endParaRPr>
          </a:p>
          <a:p>
            <a:pPr indent="-302895" lvl="0" marL="457200" rtl="0" algn="just">
              <a:spcBef>
                <a:spcPts val="0"/>
              </a:spcBef>
              <a:spcAft>
                <a:spcPts val="0"/>
              </a:spcAft>
              <a:buSzPct val="100000"/>
              <a:buChar char="●"/>
            </a:pPr>
            <a:r>
              <a:rPr b="0" lang="vi" sz="1300">
                <a:highlight>
                  <a:schemeClr val="dk1"/>
                </a:highlight>
              </a:rPr>
              <a:t>Cần đề xuất thêm quy trình đặt cọc tiền mỗi khi đặt đơn hàng để tránh tình trạng hủy đơn hàng nhiều</a:t>
            </a:r>
            <a:endParaRPr b="0" sz="1300">
              <a:highlight>
                <a:schemeClr val="dk1"/>
              </a:highlight>
            </a:endParaRPr>
          </a:p>
          <a:p>
            <a:pPr indent="-302895" lvl="0" marL="457200" rtl="0" algn="just">
              <a:spcBef>
                <a:spcPts val="0"/>
              </a:spcBef>
              <a:spcAft>
                <a:spcPts val="0"/>
              </a:spcAft>
              <a:buSzPct val="100000"/>
              <a:buChar char="●"/>
            </a:pPr>
            <a:r>
              <a:rPr b="0" lang="vi" sz="1300">
                <a:highlight>
                  <a:schemeClr val="dk1"/>
                </a:highlight>
              </a:rPr>
              <a:t>Phát triển kênh bán hàng online để cạnh tranh với những kênh online khác </a:t>
            </a:r>
            <a:endParaRPr b="0" sz="1300">
              <a:highlight>
                <a:schemeClr val="dk1"/>
              </a:highlight>
            </a:endParaRPr>
          </a:p>
          <a:p>
            <a:pPr indent="0" lvl="0" marL="0" rtl="0" algn="l">
              <a:spcBef>
                <a:spcPts val="0"/>
              </a:spcBef>
              <a:spcAft>
                <a:spcPts val="0"/>
              </a:spcAft>
              <a:buNone/>
            </a:pPr>
            <a:r>
              <a:t/>
            </a:r>
            <a:endParaRPr b="0" sz="1400">
              <a:highlight>
                <a:schemeClr val="dk1"/>
              </a:highlight>
            </a:endParaRPr>
          </a:p>
          <a:p>
            <a:pPr indent="0" lvl="0" marL="0" rtl="0" algn="l">
              <a:spcBef>
                <a:spcPts val="0"/>
              </a:spcBef>
              <a:spcAft>
                <a:spcPts val="0"/>
              </a:spcAft>
              <a:buNone/>
            </a:pPr>
            <a:r>
              <a:t/>
            </a:r>
            <a:endParaRPr b="0" sz="1400">
              <a:highlight>
                <a:schemeClr val="dk1"/>
              </a:highlight>
            </a:endParaRPr>
          </a:p>
          <a:p>
            <a:pPr indent="0" lvl="0" marL="0" rtl="0" algn="ctr">
              <a:spcBef>
                <a:spcPts val="0"/>
              </a:spcBef>
              <a:spcAft>
                <a:spcPts val="0"/>
              </a:spcAft>
              <a:buNone/>
            </a:pPr>
            <a:r>
              <a:t/>
            </a:r>
            <a:endParaRPr>
              <a:highlight>
                <a:schemeClr val="dk1"/>
              </a:highlight>
            </a:endParaRPr>
          </a:p>
        </p:txBody>
      </p:sp>
      <p:sp>
        <p:nvSpPr>
          <p:cNvPr id="159" name="Google Shape;159;p25"/>
          <p:cNvSpPr txBox="1"/>
          <p:nvPr/>
        </p:nvSpPr>
        <p:spPr>
          <a:xfrm>
            <a:off x="0" y="0"/>
            <a:ext cx="47787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vi" sz="2500">
                <a:solidFill>
                  <a:schemeClr val="dk2"/>
                </a:solidFill>
                <a:highlight>
                  <a:schemeClr val="accent4"/>
                </a:highlight>
                <a:latin typeface="Oswald"/>
                <a:ea typeface="Oswald"/>
                <a:cs typeface="Oswald"/>
                <a:sym typeface="Oswald"/>
              </a:rPr>
              <a:t>5</a:t>
            </a:r>
            <a:r>
              <a:rPr lang="vi" sz="2500">
                <a:solidFill>
                  <a:schemeClr val="dk2"/>
                </a:solidFill>
                <a:highlight>
                  <a:schemeClr val="accent4"/>
                </a:highlight>
                <a:latin typeface="Oswald"/>
                <a:ea typeface="Oswald"/>
                <a:cs typeface="Oswald"/>
                <a:sym typeface="Oswald"/>
              </a:rPr>
              <a:t>. Đánh giá và giải pháp</a:t>
            </a:r>
            <a:endParaRPr>
              <a:highlight>
                <a:schemeClr val="accent4"/>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